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12" r:id="rId4"/>
  </p:sldMasterIdLst>
  <p:notesMasterIdLst>
    <p:notesMasterId r:id="rId21"/>
  </p:notesMasterIdLst>
  <p:sldIdLst>
    <p:sldId id="256" r:id="rId5"/>
    <p:sldId id="2146847054" r:id="rId6"/>
    <p:sldId id="262" r:id="rId7"/>
    <p:sldId id="2146847056" r:id="rId8"/>
    <p:sldId id="265" r:id="rId9"/>
    <p:sldId id="2146847057" r:id="rId10"/>
    <p:sldId id="2146847058" r:id="rId11"/>
    <p:sldId id="2146847059" r:id="rId12"/>
    <p:sldId id="2146847060" r:id="rId13"/>
    <p:sldId id="2146847061" r:id="rId14"/>
    <p:sldId id="2146847062" r:id="rId15"/>
    <p:sldId id="266" r:id="rId16"/>
    <p:sldId id="267" r:id="rId17"/>
    <p:sldId id="268" r:id="rId18"/>
    <p:sldId id="269" r:id="rId19"/>
    <p:sldId id="259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2BA97"/>
    <a:srgbClr val="8E6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C3D9CC-52A4-7BB9-5926-A17EAD909109}" v="32" dt="2024-12-19T12:09:51.9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4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256A78-79A6-408F-8148-4F87BB81602D}" type="datetimeFigureOut">
              <a:rPr lang="en-IN" smtClean="0"/>
              <a:t>26-07-2025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E254F1-4415-47BF-9E91-C5D4B9A3335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80084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53029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302026"/>
            <a:ext cx="11029615" cy="467332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D82B9-B8EE-4375-B6FF-88FA6ABB15D9}" type="datetime1">
              <a:rPr lang="en-US" smtClean="0"/>
              <a:t>7/26/2025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497495-0637-405E-AE64-5CC7506D51F5}" type="datetime1">
              <a:rPr lang="en-US" smtClean="0"/>
              <a:t>7/26/2025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49285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1391479"/>
            <a:ext cx="5194767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6039" y="1391479"/>
            <a:ext cx="5194769" cy="446957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FFD690-9426-415D-8B65-26881E07B2D4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C4989A-474C-40DE-95B9-011C28B71673}" type="datetime1">
              <a:rPr lang="en-US" smtClean="0"/>
              <a:t>7/26/2025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59224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B4ED54-5B5E-4A04-93D3-5772E3CE3818}" type="datetime1">
              <a:rPr lang="en-US" smtClean="0"/>
              <a:t>7/26/2025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DE50D6-574B-40AF-946F-D52A04ADE379}" type="datetime1">
              <a:rPr lang="en-US" smtClean="0"/>
              <a:t>7/26/2025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/>
          <a:lstStyle/>
          <a:p>
            <a:fld id="{D82884F1-FFEA-405F-9602-3DCA865EDA4E}" type="datetime1">
              <a:rPr lang="en-US" smtClean="0"/>
              <a:t>7/26/2025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18DB4A-8810-4A10-AD5C-D5E2C667F5B3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pPr algn="l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ED4963-E985-44C4-B8C4-FDD613B7C2F8}" type="datetime1">
              <a:rPr lang="en-US" smtClean="0"/>
              <a:t>7/26/2025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291B17-9318-49DB-B28B-6E5994AE9581}" type="datetime1">
              <a:rPr lang="en-US" smtClean="0"/>
              <a:t>7/26/2025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55714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1415198"/>
            <a:ext cx="11029616" cy="45728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ED291B17-9318-49DB-B28B-6E5994AE9581}" type="datetime1">
              <a:rPr lang="en-US" smtClean="0"/>
              <a:t>7/26/2025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14A64E4D-8DED-7830-2955-1BE78C5B0655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0485003" y="6437910"/>
            <a:ext cx="1125805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 ftr="0" dt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11E26-4C38-41A6-9857-11032CEECD8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9108" y="1821635"/>
            <a:ext cx="9144000" cy="977778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Employee Salary Prediction using machine learning algorithm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-329782" y="1034321"/>
            <a:ext cx="12726648" cy="5847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3200" b="1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CAPSTONE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117529" y="4586365"/>
            <a:ext cx="7980183" cy="70788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Presented By:</a:t>
            </a:r>
          </a:p>
          <a:p>
            <a:r>
              <a:rPr lang="en-US" sz="2000" b="1" dirty="0">
                <a:solidFill>
                  <a:schemeClr val="accent1">
                    <a:lumMod val="75000"/>
                  </a:schemeClr>
                </a:solidFill>
                <a:latin typeface="Arial"/>
                <a:cs typeface="Arial"/>
              </a:rPr>
              <a:t>1. Tanishq Jaiswal-IIT Patna-Computer Science Department</a:t>
            </a:r>
          </a:p>
        </p:txBody>
      </p:sp>
    </p:spTree>
    <p:extLst>
      <p:ext uri="{BB962C8B-B14F-4D97-AF65-F5344CB8AC3E}">
        <p14:creationId xmlns:p14="http://schemas.microsoft.com/office/powerpoint/2010/main" val="953325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FEB4C-F209-4AE7-AA2B-B3C26CE2C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9573" y="558468"/>
            <a:ext cx="10515600" cy="1325563"/>
          </a:xfrm>
        </p:spPr>
        <p:txBody>
          <a:bodyPr/>
          <a:lstStyle/>
          <a:p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78641-EEA3-4EC4-BF39-4075B0C120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8938"/>
            <a:ext cx="11019020" cy="5239062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000" b="1" dirty="0">
                <a:latin typeface="Arial"/>
                <a:ea typeface="+mn-lt"/>
                <a:cs typeface="Arial"/>
              </a:rPr>
              <a:t>  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Problem Statement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Calibri"/>
              </a:rPr>
              <a:t>System </a:t>
            </a:r>
            <a:r>
              <a:rPr lang="en-US" sz="2000" b="1" dirty="0">
                <a:latin typeface="Arial"/>
                <a:ea typeface="+mn-lt"/>
                <a:cs typeface="+mn-lt"/>
              </a:rPr>
              <a:t>Development Approach 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+mn-lt"/>
              </a:rPr>
              <a:t>Algorithm &amp; Deployment</a:t>
            </a:r>
            <a:endParaRPr lang="en-US" dirty="0">
              <a:latin typeface="Arial"/>
              <a:cs typeface="Calibri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Result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Conclusion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Future Scope</a:t>
            </a:r>
          </a:p>
          <a:p>
            <a:pPr marL="305435" indent="-305435"/>
            <a:r>
              <a:rPr lang="en-US" sz="2000" b="1" dirty="0">
                <a:latin typeface="Arial"/>
                <a:ea typeface="+mn-lt"/>
                <a:cs typeface="Arial"/>
              </a:rPr>
              <a:t>References</a:t>
            </a:r>
            <a:endParaRPr lang="en-US" dirty="0">
              <a:latin typeface="Arial"/>
              <a:cs typeface="Arial"/>
            </a:endParaRPr>
          </a:p>
          <a:p>
            <a:pPr marL="305435" indent="-305435"/>
            <a:endParaRPr lang="en-US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00153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Problem Statement</a:t>
            </a:r>
            <a:endParaRPr lang="en-US" sz="440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EE4A9C-3F57-7DA7-91FD-715C3FB47F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619" y="1232452"/>
            <a:ext cx="11759381" cy="594509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sz="2400" b="1" dirty="0"/>
          </a:p>
          <a:p>
            <a:pPr marL="305435" indent="-305435"/>
            <a:r>
              <a:rPr lang="en-US" sz="2400" b="1" dirty="0"/>
              <a:t>Forecasting salaries accurately allows HR professionals to make informed choices about salary changes, promotions, and hiring budgets. </a:t>
            </a:r>
          </a:p>
          <a:p>
            <a:pPr marL="0" indent="0">
              <a:buNone/>
            </a:pPr>
            <a:endParaRPr lang="en-US" sz="2400" b="1" dirty="0"/>
          </a:p>
          <a:p>
            <a:pPr marL="305435" indent="-305435"/>
            <a:r>
              <a:rPr lang="en-US" sz="2400" b="1" dirty="0"/>
              <a:t>Employee salary prediction is an important task for organizations. It ensures fair pay and helps keep employees satisfied.</a:t>
            </a:r>
          </a:p>
          <a:p>
            <a:pPr marL="305435" indent="-305435"/>
            <a:endParaRPr lang="en-US" sz="2400" b="1" dirty="0"/>
          </a:p>
          <a:p>
            <a:pPr marL="305435" indent="-305435"/>
            <a:r>
              <a:rPr lang="en-US" sz="2400" b="1" dirty="0"/>
              <a:t>The project aims to solve the issue of predicting salaries based on various factors like experience, education, and job role.</a:t>
            </a:r>
          </a:p>
          <a:p>
            <a:pPr marL="305435" indent="-305435"/>
            <a:endParaRPr lang="en-US" sz="2400" b="1" dirty="0"/>
          </a:p>
          <a:p>
            <a:pPr marL="305435" indent="-305435"/>
            <a:r>
              <a:rPr lang="en-US" sz="2400" b="1" dirty="0"/>
              <a:t>Machine learning algorithms offer a way to analyze the complex connections between employee attributes and salary results.</a:t>
            </a:r>
          </a:p>
          <a:p>
            <a:pPr marL="305435" indent="-305435"/>
            <a:endParaRPr lang="en-US" sz="2800" b="1" dirty="0"/>
          </a:p>
          <a:p>
            <a:pPr marL="305435" indent="-305435"/>
            <a:endParaRPr lang="en-US" sz="1800" b="1" dirty="0"/>
          </a:p>
        </p:txBody>
      </p:sp>
    </p:spTree>
    <p:extLst>
      <p:ext uri="{BB962C8B-B14F-4D97-AF65-F5344CB8AC3E}">
        <p14:creationId xmlns:p14="http://schemas.microsoft.com/office/powerpoint/2010/main" val="11864211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E79FE-D92B-4DEF-07B7-9A14BFF08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955" y="363794"/>
            <a:ext cx="11366089" cy="6381135"/>
          </a:xfrm>
        </p:spPr>
        <p:txBody>
          <a:bodyPr>
            <a:noAutofit/>
          </a:bodyPr>
          <a:lstStyle/>
          <a:p>
            <a:pPr marL="305435" indent="-305435"/>
            <a:r>
              <a:rPr lang="en-US" sz="2400" b="1" dirty="0"/>
              <a:t>By automating salary predictions, organizations can save time and lessen human bias in decision-making.</a:t>
            </a:r>
          </a:p>
          <a:p>
            <a:pPr marL="305435" indent="-305435"/>
            <a:endParaRPr lang="en-US" sz="2400" b="1" dirty="0"/>
          </a:p>
          <a:p>
            <a:pPr marL="305435" indent="-305435"/>
            <a:r>
              <a:rPr lang="en-US" sz="2400" b="1" dirty="0"/>
              <a:t>The goal of this project is to create a reliable and user-friendly tool that helps HR teams make decisions based on data.</a:t>
            </a:r>
          </a:p>
          <a:p>
            <a:pPr marL="305435" indent="-305435"/>
            <a:endParaRPr lang="en-US" sz="2400" b="1" dirty="0"/>
          </a:p>
          <a:p>
            <a:pPr marL="305435" indent="-305435"/>
            <a:r>
              <a:rPr lang="en-US" sz="2400" b="1" dirty="0"/>
              <a:t>This project also provides a chance to explore how machine learning can be applied in real-life situations.</a:t>
            </a:r>
          </a:p>
          <a:p>
            <a:pPr marL="305435" indent="-305435"/>
            <a:endParaRPr lang="en-US" sz="2400" b="1" dirty="0"/>
          </a:p>
          <a:p>
            <a:pPr marL="305435" indent="-305435"/>
            <a:r>
              <a:rPr lang="en-US" sz="2400" b="1" dirty="0"/>
              <a:t>The ultimate aim is to improve transparency and efficiency in salary management systems.</a:t>
            </a:r>
            <a:endParaRPr lang="en-IN" sz="2400" b="1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349897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662572"/>
            <a:ext cx="11029616" cy="53029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System  Approach</a:t>
            </a:r>
            <a:endParaRPr lang="en-US" sz="4400" dirty="0">
              <a:solidFill>
                <a:schemeClr val="accent1"/>
              </a:solidFill>
              <a:latin typeface="Calibri Light"/>
              <a:cs typeface="Calibri Light"/>
            </a:endParaRP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4FFAF3C-BA60-9181-132C-C36C403AAE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8089" y="-1671484"/>
            <a:ext cx="10766323" cy="807228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endParaRPr lang="en-US" sz="2800" b="1" dirty="0"/>
          </a:p>
          <a:p>
            <a:pPr marL="0" indent="0">
              <a:buNone/>
            </a:pPr>
            <a:r>
              <a:rPr lang="en-US" sz="2400" b="1" dirty="0"/>
              <a:t>System Requirements To develop and run this project efficiently, we’ll need both hardware and software components</a:t>
            </a:r>
            <a:r>
              <a:rPr lang="en-US" sz="2400" dirty="0"/>
              <a:t>:</a:t>
            </a:r>
          </a:p>
          <a:p>
            <a:pPr marL="0" indent="0">
              <a:buNone/>
            </a:pPr>
            <a:endParaRPr lang="en-US" sz="2800" dirty="0"/>
          </a:p>
          <a:p>
            <a:pPr marL="0" indent="0">
              <a:buNone/>
            </a:pPr>
            <a:r>
              <a:rPr lang="en-IN" sz="2800" b="1" dirty="0">
                <a:latin typeface="+mj-lt"/>
              </a:rPr>
              <a:t>Hardware Requirements</a:t>
            </a:r>
          </a:p>
          <a:p>
            <a:pPr marL="0" indent="0">
              <a:buNone/>
            </a:pPr>
            <a:r>
              <a:rPr lang="en-US" dirty="0"/>
              <a:t>         </a:t>
            </a:r>
            <a:r>
              <a:rPr lang="en-US" sz="2400" u="sng" dirty="0"/>
              <a:t>A system with at least: - </a:t>
            </a:r>
          </a:p>
          <a:p>
            <a:r>
              <a:rPr lang="en-US" sz="2400" b="1" dirty="0"/>
              <a:t>8 GB RAM </a:t>
            </a:r>
          </a:p>
          <a:p>
            <a:r>
              <a:rPr lang="en-US" sz="2400" b="1" dirty="0"/>
              <a:t>Intel i5 processor or equivalent </a:t>
            </a:r>
          </a:p>
          <a:p>
            <a:r>
              <a:rPr lang="en-US" sz="2400" b="1" dirty="0"/>
              <a:t>100+ GB storage</a:t>
            </a:r>
            <a:endParaRPr lang="en-IN" sz="2400" b="1" dirty="0">
              <a:solidFill>
                <a:srgbClr val="0F0F0F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2020245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A1540-40A8-C882-A08E-D0BC0F05C8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353961"/>
            <a:ext cx="11029615" cy="5621390"/>
          </a:xfrm>
        </p:spPr>
        <p:txBody>
          <a:bodyPr>
            <a:normAutofit/>
          </a:bodyPr>
          <a:lstStyle/>
          <a:p>
            <a:pPr marL="324000" lvl="1" indent="0">
              <a:buNone/>
            </a:pPr>
            <a:r>
              <a:rPr lang="en-IN" sz="2800" b="1" dirty="0">
                <a:latin typeface="+mj-lt"/>
              </a:rPr>
              <a:t>Software Requirements</a:t>
            </a:r>
          </a:p>
          <a:p>
            <a:pPr marL="324000" lvl="1" indent="0">
              <a:buNone/>
            </a:pPr>
            <a:endParaRPr lang="en-IN" sz="2800" b="1" dirty="0">
              <a:latin typeface="+mj-lt"/>
            </a:endParaRPr>
          </a:p>
          <a:p>
            <a:pPr lvl="1"/>
            <a:r>
              <a:rPr lang="en-IN" sz="2400" b="1" dirty="0"/>
              <a:t>OS: Windows 11</a:t>
            </a:r>
          </a:p>
          <a:p>
            <a:pPr lvl="1"/>
            <a:r>
              <a:rPr lang="en-IN" sz="2400" b="1" dirty="0"/>
              <a:t>Programming Language: Python (preferred for ML) </a:t>
            </a:r>
          </a:p>
          <a:p>
            <a:pPr lvl="1"/>
            <a:r>
              <a:rPr lang="en-IN" sz="2400" b="1" dirty="0"/>
              <a:t>Environment: </a:t>
            </a:r>
            <a:r>
              <a:rPr lang="en-IN" sz="2400" b="1" dirty="0" err="1"/>
              <a:t>Jupyter</a:t>
            </a:r>
            <a:r>
              <a:rPr lang="en-IN" sz="2400" b="1" dirty="0"/>
              <a:t> Notebook, VS Code</a:t>
            </a:r>
          </a:p>
          <a:p>
            <a:pPr lvl="1"/>
            <a:r>
              <a:rPr lang="en-IN" sz="2400" b="1" dirty="0"/>
              <a:t>Libraries &amp; Tools: (Listed in the next section)</a:t>
            </a:r>
            <a:endParaRPr lang="en-IN" sz="24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479389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4724F-B6C0-F508-FAD6-C232436AFC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-2920181"/>
            <a:ext cx="11109363" cy="9134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>
                <a:latin typeface="+mj-lt"/>
              </a:rPr>
              <a:t>Essential Python Libraries &amp; Their Roles</a:t>
            </a:r>
          </a:p>
          <a:p>
            <a:pPr marL="0" indent="0">
              <a:buNone/>
            </a:pPr>
            <a:endParaRPr lang="en-US" sz="2800" b="1" dirty="0">
              <a:latin typeface="+mj-lt"/>
            </a:endParaRPr>
          </a:p>
          <a:p>
            <a:pPr marL="0" indent="0">
              <a:buNone/>
            </a:pPr>
            <a:endParaRPr lang="en-IN" sz="2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9495FD89-78B2-7FDC-2BEC-A148884BEAC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1721676"/>
              </p:ext>
            </p:extLst>
          </p:nvPr>
        </p:nvGraphicFramePr>
        <p:xfrm>
          <a:off x="776749" y="1415846"/>
          <a:ext cx="9979742" cy="5053781"/>
        </p:xfrm>
        <a:graphic>
          <a:graphicData uri="http://schemas.openxmlformats.org/drawingml/2006/table">
            <a:tbl>
              <a:tblPr/>
              <a:tblGrid>
                <a:gridCol w="4062076">
                  <a:extLst>
                    <a:ext uri="{9D8B030D-6E8A-4147-A177-3AD203B41FA5}">
                      <a16:colId xmlns:a16="http://schemas.microsoft.com/office/drawing/2014/main" val="2494698048"/>
                    </a:ext>
                  </a:extLst>
                </a:gridCol>
                <a:gridCol w="5917666">
                  <a:extLst>
                    <a:ext uri="{9D8B030D-6E8A-4147-A177-3AD203B41FA5}">
                      <a16:colId xmlns:a16="http://schemas.microsoft.com/office/drawing/2014/main" val="1831978240"/>
                    </a:ext>
                  </a:extLst>
                </a:gridCol>
              </a:tblGrid>
              <a:tr h="631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Library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Role in the Project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622273"/>
                  </a:ext>
                </a:extLst>
              </a:tr>
              <a:tr h="110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pandas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For reading, cleaning, and manipulating structured employee data (CSV, Excel, etc.)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2856724"/>
                  </a:ext>
                </a:extLst>
              </a:tr>
              <a:tr h="110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numpy</a:t>
                      </a:r>
                      <a:endParaRPr lang="en-IN" sz="2400" b="1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Provides numerical computations and array operations essential for ML workflows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2341508"/>
                  </a:ext>
                </a:extLst>
              </a:tr>
              <a:tr h="110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matplotlib.pyplot</a:t>
                      </a:r>
                      <a:endParaRPr lang="en-IN" sz="2400" b="1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Visualizes data through graphs (salary trends, prediction results)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7139348"/>
                  </a:ext>
                </a:extLst>
              </a:tr>
              <a:tr h="110551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seaborn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Builds statistical plots like correlation heatmaps to find patterns in features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539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352925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FB0209-85F5-73F9-27A5-D6247A050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80CB4C-CDF8-079D-6BDB-4335791DA8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707923"/>
            <a:ext cx="11029615" cy="490363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>
              <a:latin typeface="+mj-lt"/>
            </a:endParaRPr>
          </a:p>
          <a:p>
            <a:pPr marL="0" indent="0">
              <a:buNone/>
            </a:pPr>
            <a:endParaRPr lang="en-IN" sz="2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837D195-D547-B79C-864B-698782EDF4F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6085578"/>
              </p:ext>
            </p:extLst>
          </p:nvPr>
        </p:nvGraphicFramePr>
        <p:xfrm>
          <a:off x="766916" y="442452"/>
          <a:ext cx="10589342" cy="6320920"/>
        </p:xfrm>
        <a:graphic>
          <a:graphicData uri="http://schemas.openxmlformats.org/drawingml/2006/table">
            <a:tbl>
              <a:tblPr/>
              <a:tblGrid>
                <a:gridCol w="5299587">
                  <a:extLst>
                    <a:ext uri="{9D8B030D-6E8A-4147-A177-3AD203B41FA5}">
                      <a16:colId xmlns:a16="http://schemas.microsoft.com/office/drawing/2014/main" val="2494698048"/>
                    </a:ext>
                  </a:extLst>
                </a:gridCol>
                <a:gridCol w="5289755">
                  <a:extLst>
                    <a:ext uri="{9D8B030D-6E8A-4147-A177-3AD203B41FA5}">
                      <a16:colId xmlns:a16="http://schemas.microsoft.com/office/drawing/2014/main" val="1831978240"/>
                    </a:ext>
                  </a:extLst>
                </a:gridCol>
              </a:tblGrid>
              <a:tr h="61895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Library</a:t>
                      </a:r>
                      <a:endParaRPr lang="en-IN" sz="2400" u="sng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Role in the Project</a:t>
                      </a:r>
                      <a:endParaRPr lang="en-IN" sz="2400" u="sng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622273"/>
                  </a:ext>
                </a:extLst>
              </a:tr>
              <a:tr h="108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joblib</a:t>
                      </a:r>
                      <a:endParaRPr lang="en-IN" sz="2400" b="1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Saves and loads trained models efficiently using serialization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0899354"/>
                  </a:ext>
                </a:extLst>
              </a:tr>
              <a:tr h="117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streamlit</a:t>
                      </a:r>
                      <a:endParaRPr lang="en-IN" sz="2400" b="1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Creates an interactive web app interface to input employee data and show predictions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9654045"/>
                  </a:ext>
                </a:extLst>
              </a:tr>
              <a:tr h="117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LabelEncoder (from sklearn)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Converts categorical employee features (e.g., education level, job role) into numerical format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19322497"/>
                  </a:ext>
                </a:extLst>
              </a:tr>
              <a:tr h="1178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MinMaxScaler (from sklearn)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Scales numerical values (e.g., experience years, salary ranges) for better model accuracy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7987447"/>
                  </a:ext>
                </a:extLst>
              </a:tr>
              <a:tr h="10831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 err="1"/>
                        <a:t>train_test_split</a:t>
                      </a:r>
                      <a:r>
                        <a:rPr lang="en-US" sz="2400" b="1" dirty="0"/>
                        <a:t> (from </a:t>
                      </a:r>
                      <a:r>
                        <a:rPr lang="en-US" sz="2400" b="1" dirty="0" err="1"/>
                        <a:t>sklearn</a:t>
                      </a:r>
                      <a:r>
                        <a:rPr lang="en-US" sz="2400" b="1" dirty="0"/>
                        <a:t>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Splits the dataset into training and testing sets for model evaluation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593285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918149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9D8B6-E6DB-1220-CC55-47ECE41B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56F9E3-1CD1-C41C-37D8-3A58BB69DE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747252"/>
            <a:ext cx="11029615" cy="4864304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>
              <a:latin typeface="+mj-lt"/>
            </a:endParaRPr>
          </a:p>
          <a:p>
            <a:pPr marL="0" indent="0">
              <a:buNone/>
            </a:pPr>
            <a:endParaRPr lang="en-IN" sz="2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27A323E-C2B0-3B2D-ED6E-9B236C179C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2738380"/>
              </p:ext>
            </p:extLst>
          </p:nvPr>
        </p:nvGraphicFramePr>
        <p:xfrm>
          <a:off x="501443" y="629266"/>
          <a:ext cx="11109364" cy="5792051"/>
        </p:xfrm>
        <a:graphic>
          <a:graphicData uri="http://schemas.openxmlformats.org/drawingml/2006/table">
            <a:tbl>
              <a:tblPr/>
              <a:tblGrid>
                <a:gridCol w="5554682">
                  <a:extLst>
                    <a:ext uri="{9D8B030D-6E8A-4147-A177-3AD203B41FA5}">
                      <a16:colId xmlns:a16="http://schemas.microsoft.com/office/drawing/2014/main" val="2494698048"/>
                    </a:ext>
                  </a:extLst>
                </a:gridCol>
                <a:gridCol w="5554682">
                  <a:extLst>
                    <a:ext uri="{9D8B030D-6E8A-4147-A177-3AD203B41FA5}">
                      <a16:colId xmlns:a16="http://schemas.microsoft.com/office/drawing/2014/main" val="1831978240"/>
                    </a:ext>
                  </a:extLst>
                </a:gridCol>
              </a:tblGrid>
              <a:tr h="5828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Library</a:t>
                      </a:r>
                      <a:endParaRPr lang="en-IN" sz="2400" u="sng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Role in the Project</a:t>
                      </a:r>
                      <a:endParaRPr lang="en-IN" sz="2400" u="sng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622273"/>
                  </a:ext>
                </a:extLst>
              </a:tr>
              <a:tr h="1020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KNeighborsClassifier</a:t>
                      </a:r>
                      <a:endParaRPr lang="en-IN" sz="2400" b="1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A baseline ML model that classifies salary brackets based on feature similarity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7459348"/>
                  </a:ext>
                </a:extLst>
              </a:tr>
              <a:tr h="1020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accuracy_score</a:t>
                      </a:r>
                      <a:r>
                        <a:rPr lang="en-IN" sz="2400" b="1" dirty="0"/>
                        <a:t> (from </a:t>
                      </a:r>
                      <a:r>
                        <a:rPr lang="en-IN" sz="2400" b="1" dirty="0" err="1"/>
                        <a:t>sklearn</a:t>
                      </a:r>
                      <a:r>
                        <a:rPr lang="en-IN" sz="2400" b="1" dirty="0"/>
                        <a:t>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Evaluates classification performance (how close predicted salary class is to actual)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63857665"/>
                  </a:ext>
                </a:extLst>
              </a:tr>
              <a:tr h="1020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LogisticRegression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Predicts salary categories based on linear decision boundaries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29367"/>
                  </a:ext>
                </a:extLst>
              </a:tr>
              <a:tr h="1020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MLPClassifier (neural network)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Captures complex patterns using multiple layers—great for nonlinear salary prediction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3720365"/>
                  </a:ext>
                </a:extLst>
              </a:tr>
              <a:tr h="102003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RandomForestClassifier</a:t>
                      </a:r>
                      <a:endParaRPr lang="en-IN" sz="2400" b="1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Ensemble method that improves prediction by combining decision trees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6974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7603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31F89-80F0-EAE1-9A64-4CB4B86802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4BBA6-A1B3-796F-E658-DEBB1DEE42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599768"/>
            <a:ext cx="11029615" cy="50117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sz="2800" b="1" dirty="0">
              <a:latin typeface="+mj-lt"/>
            </a:endParaRPr>
          </a:p>
          <a:p>
            <a:pPr marL="0" indent="0">
              <a:buNone/>
            </a:pPr>
            <a:endParaRPr lang="en-IN" sz="28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3D3B5CF-D174-F271-AEBF-A2927758FE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6449445"/>
              </p:ext>
            </p:extLst>
          </p:nvPr>
        </p:nvGraphicFramePr>
        <p:xfrm>
          <a:off x="599768" y="599768"/>
          <a:ext cx="10842802" cy="6263237"/>
        </p:xfrm>
        <a:graphic>
          <a:graphicData uri="http://schemas.openxmlformats.org/drawingml/2006/table">
            <a:tbl>
              <a:tblPr/>
              <a:tblGrid>
                <a:gridCol w="5327994">
                  <a:extLst>
                    <a:ext uri="{9D8B030D-6E8A-4147-A177-3AD203B41FA5}">
                      <a16:colId xmlns:a16="http://schemas.microsoft.com/office/drawing/2014/main" val="2494698048"/>
                    </a:ext>
                  </a:extLst>
                </a:gridCol>
                <a:gridCol w="5514808">
                  <a:extLst>
                    <a:ext uri="{9D8B030D-6E8A-4147-A177-3AD203B41FA5}">
                      <a16:colId xmlns:a16="http://schemas.microsoft.com/office/drawing/2014/main" val="1831978240"/>
                    </a:ext>
                  </a:extLst>
                </a:gridCol>
              </a:tblGrid>
              <a:tr h="4900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Library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u="sng" dirty="0"/>
                        <a:t>Role in the Project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3622273"/>
                  </a:ext>
                </a:extLst>
              </a:tr>
              <a:tr h="85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 err="1"/>
                        <a:t>GradientBoostingClassifier</a:t>
                      </a:r>
                      <a:endParaRPr lang="en-IN" sz="2400" b="1" dirty="0"/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Boosts prediction accuracy by sequentially improving weak models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08630806"/>
                  </a:ext>
                </a:extLst>
              </a:tr>
              <a:tr h="1171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SVC (Support Vector Classifier)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Separates salary categories using hyperplanes—effective with high-dimensional data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830283"/>
                  </a:ext>
                </a:extLst>
              </a:tr>
              <a:tr h="85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pyngrok.conf &amp; pyngrok.ngrok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Tunnels your Streamlit app to the web for public access (via secure link)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3294788"/>
                  </a:ext>
                </a:extLst>
              </a:tr>
              <a:tr h="1171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os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/>
                        <a:t>Handles file paths and environment variables (e.g., model loading, saving outputs)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7719165"/>
                  </a:ext>
                </a:extLst>
              </a:tr>
              <a:tr h="85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threading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Supports concurrent processes (e.g., UI updates while model runs)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9252409"/>
                  </a:ext>
                </a:extLst>
              </a:tr>
              <a:tr h="85762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time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b="1" dirty="0"/>
                        <a:t>Manages delays and timestamps in the app or model tracking</a:t>
                      </a:r>
                    </a:p>
                  </a:txBody>
                  <a:tcPr marL="31761" marR="31761" marT="15881" marB="1588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12010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010065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E98F2EAE-6365-8AA0-4175-75CA9857FD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5648" y="698091"/>
            <a:ext cx="11040704" cy="58796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+mj-lt"/>
              </a:rPr>
              <a:t>System Methodology Overview </a:t>
            </a:r>
          </a:p>
          <a:p>
            <a:pPr marL="0" indent="0">
              <a:buNone/>
            </a:pPr>
            <a:r>
              <a:rPr lang="en-US" sz="2400" u="sng" dirty="0"/>
              <a:t>The project follows these key stages: - </a:t>
            </a:r>
          </a:p>
          <a:p>
            <a:pPr marL="0" indent="0">
              <a:buNone/>
            </a:pPr>
            <a:r>
              <a:rPr lang="en-US" sz="2400" b="1" dirty="0"/>
              <a:t>Data Collection: Gather employee-related data (CSV, Excel, APIs, etc.).</a:t>
            </a:r>
          </a:p>
          <a:p>
            <a:pPr marL="0" indent="0">
              <a:buNone/>
            </a:pPr>
            <a:r>
              <a:rPr lang="en-US" sz="2400" b="1" dirty="0"/>
              <a:t>Data Preprocessing: Handle missing values, encode categorical variables, and normalize features.</a:t>
            </a:r>
          </a:p>
          <a:p>
            <a:pPr marL="0" indent="0">
              <a:buNone/>
            </a:pPr>
            <a:r>
              <a:rPr lang="en-US" sz="2400" b="1" dirty="0"/>
              <a:t>Feature Selection: Identify the most predictive attributes. </a:t>
            </a:r>
          </a:p>
          <a:p>
            <a:pPr marL="0" indent="0">
              <a:buNone/>
            </a:pPr>
            <a:r>
              <a:rPr lang="en-US" sz="2400" b="1" dirty="0"/>
              <a:t>Model Development: Train ML algorithms such as Linear Regression or Random Forest.</a:t>
            </a:r>
          </a:p>
          <a:p>
            <a:pPr marL="0" indent="0">
              <a:buNone/>
            </a:pPr>
            <a:r>
              <a:rPr lang="en-US" sz="2400" b="1" dirty="0"/>
              <a:t>Model Evaluation: Use metrics like MAE, MSE, RMSE, or R².</a:t>
            </a:r>
          </a:p>
          <a:p>
            <a:pPr marL="0" indent="0">
              <a:buNone/>
            </a:pPr>
            <a:r>
              <a:rPr lang="en-US" sz="2400" b="1" dirty="0"/>
              <a:t>Deployment: Create an API or web-based interface for real-time predictions. </a:t>
            </a:r>
            <a:endParaRPr lang="en-IN" sz="2400" b="1" dirty="0"/>
          </a:p>
          <a:p>
            <a:pPr marL="0" indent="0">
              <a:buNone/>
            </a:pPr>
            <a:endParaRPr lang="en-IN" sz="28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95450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Algorithm &amp; Deployment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7F0871F-2198-9E37-C96F-3611AA199B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Describe step by step procedure to complete your project </a:t>
            </a:r>
          </a:p>
        </p:txBody>
      </p:sp>
    </p:spTree>
    <p:extLst>
      <p:ext uri="{BB962C8B-B14F-4D97-AF65-F5344CB8AC3E}">
        <p14:creationId xmlns:p14="http://schemas.microsoft.com/office/powerpoint/2010/main" val="41545087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Result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304455-6802-6CA9-8475-2F6DD1B8D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US" sz="2800" b="1" dirty="0"/>
              <a:t>Attach screen snaps of the code and output min 5</a:t>
            </a:r>
            <a:endParaRPr lang="en-US" dirty="0"/>
          </a:p>
          <a:p>
            <a:pPr marL="305435" indent="-305435"/>
            <a:endParaRPr lang="en-US" sz="2800" b="1" dirty="0"/>
          </a:p>
          <a:p>
            <a:pPr marL="305435" indent="-305435"/>
            <a:r>
              <a:rPr lang="en-US" sz="2800" b="1" dirty="0"/>
              <a:t>Attach your </a:t>
            </a:r>
            <a:r>
              <a:rPr lang="en-US" sz="2800" b="1" dirty="0" err="1"/>
              <a:t>Github</a:t>
            </a:r>
            <a:r>
              <a:rPr lang="en-US" sz="2800" b="1" dirty="0"/>
              <a:t> link</a:t>
            </a:r>
          </a:p>
          <a:p>
            <a:pPr marL="305435" indent="-305435"/>
            <a:r>
              <a:rPr lang="en-US" sz="2800" dirty="0">
                <a:ea typeface="+mn-lt"/>
                <a:cs typeface="+mn-lt"/>
              </a:rPr>
              <a:t>https://github.com/</a:t>
            </a: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14832933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Conclusion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05E46AB-32C4-4B57-A2B1-50738A64BE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800" dirty="0">
                <a:solidFill>
                  <a:srgbClr val="0F0F0F"/>
                </a:solidFill>
                <a:ea typeface="+mn-lt"/>
                <a:cs typeface="+mn-lt"/>
              </a:rPr>
              <a:t>Summarize the findings and discuss the effectiveness of the proposed solution. Highlight any challenges encountered during the implementation and potential improvements. </a:t>
            </a:r>
          </a:p>
          <a:p>
            <a:pPr marL="305435" indent="-305435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1833151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FBA75B4-2DD5-42EB-9397-F36BFB8BA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>
                <a:solidFill>
                  <a:schemeClr val="accent1"/>
                </a:solidFill>
                <a:latin typeface="Arial"/>
                <a:ea typeface="+mj-lt"/>
                <a:cs typeface="Arial"/>
              </a:rPr>
              <a:t>References</a:t>
            </a:r>
            <a:endParaRPr lang="en-US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57C38BC-22B3-37B2-E0C3-812020A76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05435" indent="-305435"/>
            <a:r>
              <a:rPr lang="en-IN" sz="2800" b="1" dirty="0">
                <a:solidFill>
                  <a:srgbClr val="0F0F0F"/>
                </a:solidFill>
                <a:ea typeface="+mn-lt"/>
                <a:cs typeface="+mn-lt"/>
              </a:rPr>
              <a:t>List and cite relevant sources, research papers, and articles that were instrumental in developing the proposed solution</a:t>
            </a:r>
            <a:r>
              <a:rPr lang="en-IN" sz="2400" dirty="0">
                <a:solidFill>
                  <a:srgbClr val="0F0F0F"/>
                </a:solidFill>
                <a:ea typeface="+mn-lt"/>
                <a:cs typeface="+mn-lt"/>
              </a:rPr>
              <a:t>.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7289502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BE4CA82-64EC-4D4E-A5E5-3EBB66E7B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3041" y="2766218"/>
            <a:ext cx="9298744" cy="1325563"/>
          </a:xfrm>
        </p:spPr>
        <p:txBody>
          <a:bodyPr/>
          <a:lstStyle/>
          <a:p>
            <a:pPr algn="ctr"/>
            <a:r>
              <a:rPr lang="en-US" b="1">
                <a:solidFill>
                  <a:srgbClr val="00206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4066255318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VTI" id="{97558BDE-0B66-457C-BB6F-7B1B22DAA9B8}" vid="{F53508A3-AC60-448A-AF37-934D5F1A0D5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9162bd5b-4ed9-4da3-b376-05204580ba3f" xsi:nil="true"/>
    <_activity xmlns="9162bd5b-4ed9-4da3-b376-05204580ba3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872188ABCFC48BECA6C87E8AC3285" ma:contentTypeVersion="17" ma:contentTypeDescription="Create a new document." ma:contentTypeScope="" ma:versionID="55a158675e089c6a85ab0f83b89e1a15">
  <xsd:schema xmlns:xsd="http://www.w3.org/2001/XMLSchema" xmlns:xs="http://www.w3.org/2001/XMLSchema" xmlns:p="http://schemas.microsoft.com/office/2006/metadata/properties" xmlns:ns3="9162bd5b-4ed9-4da3-b376-05204580ba3f" xmlns:ns4="c0fa2617-96bd-425d-8578-e93563fe37c5" targetNamespace="http://schemas.microsoft.com/office/2006/metadata/properties" ma:root="true" ma:fieldsID="b35f082308864fa161c4a0a9eca35eff" ns3:_="" ns4:_="">
    <xsd:import namespace="9162bd5b-4ed9-4da3-b376-05204580ba3f"/>
    <xsd:import namespace="c0fa2617-96bd-425d-8578-e93563fe37c5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LengthInSeconds" minOccurs="0"/>
                <xsd:element ref="ns3:MediaServiceLocation" minOccurs="0"/>
                <xsd:element ref="ns3:_activity" minOccurs="0"/>
                <xsd:element ref="ns3:MediaServiceObjectDetectorVersion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62bd5b-4ed9-4da3-b376-05204580ba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0fa2617-96bd-425d-8578-e93563fe37c5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D289AE2-D2AE-49D1-AFAC-3A79F6794255}">
  <ds:schemaRefs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c0fa2617-96bd-425d-8578-e93563fe37c5"/>
    <ds:schemaRef ds:uri="9162bd5b-4ed9-4da3-b376-05204580ba3f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E816721-11E4-4989-8472-AB5A7EC20404}">
  <ds:schemaRefs>
    <ds:schemaRef ds:uri="9162bd5b-4ed9-4da3-b376-05204580ba3f"/>
    <ds:schemaRef ds:uri="c0fa2617-96bd-425d-8578-e93563fe37c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927BD4C1-B6B1-4715-ABF9-E660A51A4E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Future forward</Template>
  <TotalTime>171</TotalTime>
  <Words>764</Words>
  <Application>Microsoft Office PowerPoint</Application>
  <PresentationFormat>Widescreen</PresentationFormat>
  <Paragraphs>116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Calibri Light</vt:lpstr>
      <vt:lpstr>Franklin Gothic Book</vt:lpstr>
      <vt:lpstr>Franklin Gothic Demi</vt:lpstr>
      <vt:lpstr>Wingdings 2</vt:lpstr>
      <vt:lpstr>DividendVTI</vt:lpstr>
      <vt:lpstr>Employee Salary Prediction using machine learning algorithm</vt:lpstr>
      <vt:lpstr>OUTLINE</vt:lpstr>
      <vt:lpstr>Problem Statement</vt:lpstr>
      <vt:lpstr>PowerPoint Presentation</vt:lpstr>
      <vt:lpstr>System  Approach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Algorithm &amp; Deployment</vt:lpstr>
      <vt:lpstr>Result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SkillsBuild Partner Update template</dc:title>
  <dc:creator>Vaibhav Ostwal</dc:creator>
  <cp:lastModifiedBy>Tanishq Jaiswal</cp:lastModifiedBy>
  <cp:revision>38</cp:revision>
  <dcterms:created xsi:type="dcterms:W3CDTF">2021-05-26T16:50:10Z</dcterms:created>
  <dcterms:modified xsi:type="dcterms:W3CDTF">2025-07-26T06:16:18Z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0x0101000F1872188ABCFC48BECA6C87E8AC3285</vt:lpwstr>
  </property>
</Properties>
</file>